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74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96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06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27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61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48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10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566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26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30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149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327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EAEE-C370-4544-A5C1-A8A5BB68DD2A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1AD199D-429C-46D8-A007-FF29F680A71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55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B7CEC-A307-461B-A244-7C352D6052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300163"/>
            <a:ext cx="9144000" cy="2387600"/>
          </a:xfrm>
        </p:spPr>
        <p:txBody>
          <a:bodyPr/>
          <a:lstStyle/>
          <a:p>
            <a:r>
              <a:rPr lang="en-US" dirty="0"/>
              <a:t>              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BE8B3-C54B-4483-A239-E4366085C1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4" t="20170" r="6785" b="25391"/>
          <a:stretch/>
        </p:blipFill>
        <p:spPr>
          <a:xfrm>
            <a:off x="9728" y="2218667"/>
            <a:ext cx="7298981" cy="36665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8AD79E-2CA3-D05F-E1EE-0B59BCDAC630}"/>
              </a:ext>
            </a:extLst>
          </p:cNvPr>
          <p:cNvSpPr txBox="1"/>
          <p:nvPr/>
        </p:nvSpPr>
        <p:spPr>
          <a:xfrm>
            <a:off x="7289253" y="3429000"/>
            <a:ext cx="48930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1600" b="1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  <a:p>
            <a:pPr algn="ctr"/>
            <a:r>
              <a:rPr lang="en-IN" sz="4400" b="1" u="sng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Group - 6 </a:t>
            </a:r>
            <a:br>
              <a:rPr lang="en-IN" sz="32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</a:br>
            <a:endParaRPr lang="en-US" sz="2800" b="1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9FDAB7-D306-18FF-1457-72D5F14D4712}"/>
              </a:ext>
            </a:extLst>
          </p:cNvPr>
          <p:cNvSpPr txBox="1"/>
          <p:nvPr/>
        </p:nvSpPr>
        <p:spPr>
          <a:xfrm>
            <a:off x="1643975" y="169419"/>
            <a:ext cx="91440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Project (P536)</a:t>
            </a:r>
          </a:p>
          <a:p>
            <a:pPr algn="ctr"/>
            <a:r>
              <a:rPr lang="en-IN" sz="5400" b="1" u="sng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Resume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56508778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6B6B7B-FBDE-4C7C-946D-484EFCF7C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20" y="1656239"/>
            <a:ext cx="6960093" cy="35455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E8EE99F-4923-4348-AA65-8682B911F0E4}"/>
              </a:ext>
            </a:extLst>
          </p:cNvPr>
          <p:cNvSpPr/>
          <p:nvPr/>
        </p:nvSpPr>
        <p:spPr>
          <a:xfrm>
            <a:off x="7297270" y="1536173"/>
            <a:ext cx="4637277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What is text mining?</a:t>
            </a:r>
          </a:p>
          <a:p>
            <a:pPr algn="just"/>
            <a:r>
              <a:rPr lang="en-US" sz="2400" dirty="0">
                <a:latin typeface="Perpetua" panose="02020502060401020303" pitchFamily="18" charset="0"/>
              </a:rPr>
              <a:t>Text mining, also known as text data mining, is the process of transforming unstructured text into a structured format to identify meaningful patterns and new insights. You can use text mining to analyze vast collections of textual materials to capture key concepts, trends and hidden relationships.</a:t>
            </a:r>
            <a:endParaRPr lang="en-IN" sz="2400" dirty="0"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58893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9A5071-CBEF-4ADB-B4F2-9C6A0BEEF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3" y="187540"/>
            <a:ext cx="11851690" cy="648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3189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CEEF5B-D88C-402A-B1B2-BB7CF6789C12}"/>
              </a:ext>
            </a:extLst>
          </p:cNvPr>
          <p:cNvSpPr/>
          <p:nvPr/>
        </p:nvSpPr>
        <p:spPr>
          <a:xfrm>
            <a:off x="1669915" y="1558316"/>
            <a:ext cx="885217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WHAT IS RESUME CLASSIFICATION?</a:t>
            </a:r>
          </a:p>
          <a:p>
            <a:pPr algn="ctr"/>
            <a:endParaRPr lang="en-US" sz="2400" b="1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  <a:p>
            <a:pPr algn="just"/>
            <a:endParaRPr lang="en-US" sz="2400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  <a:p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Resume classification refers to the process of </a:t>
            </a:r>
            <a:r>
              <a:rPr lang="en-US" sz="2400" dirty="0">
                <a:latin typeface="Perpetua" panose="02020502060401020303" pitchFamily="18" charset="0"/>
              </a:rPr>
              <a:t>automatically categorizing or labeling resumes based on their content</a:t>
            </a:r>
            <a:r>
              <a:rPr lang="en-US" sz="2400" dirty="0">
                <a:solidFill>
                  <a:srgbClr val="00B0F0"/>
                </a:solidFill>
                <a:latin typeface="Perpetua" panose="02020502060401020303" pitchFamily="18" charset="0"/>
              </a:rPr>
              <a:t>. </a:t>
            </a:r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This process is typically used in recruitment and HR to streamline the hiring process by organizing large volumes of resumes and identifying candidates who match specific job requirements or criteria.</a:t>
            </a:r>
            <a:endParaRPr lang="en-IN" sz="2400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15266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08D82F-B318-4CAA-8ADC-BCC264320D43}"/>
              </a:ext>
            </a:extLst>
          </p:cNvPr>
          <p:cNvSpPr/>
          <p:nvPr/>
        </p:nvSpPr>
        <p:spPr>
          <a:xfrm>
            <a:off x="1760738" y="138707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39C45-2729-4575-B63C-372B46A79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17" y="1023151"/>
            <a:ext cx="6193654" cy="48116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DF11C73-36D9-4B06-8EA3-111311654EF4}"/>
              </a:ext>
            </a:extLst>
          </p:cNvPr>
          <p:cNvSpPr/>
          <p:nvPr/>
        </p:nvSpPr>
        <p:spPr>
          <a:xfrm>
            <a:off x="7151716" y="2016338"/>
            <a:ext cx="478412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OBJECTIVE</a:t>
            </a:r>
          </a:p>
          <a:p>
            <a:endParaRPr lang="en-US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  <a:p>
            <a:endParaRPr lang="en-US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  <a:p>
            <a:pPr algn="just"/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In resume classification, machine learning</a:t>
            </a:r>
          </a:p>
          <a:p>
            <a:pPr algn="just"/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techniques were employed to </a:t>
            </a:r>
            <a:r>
              <a:rPr lang="en-US" sz="2400" dirty="0">
                <a:latin typeface="Perpetua" panose="02020502060401020303" pitchFamily="18" charset="0"/>
              </a:rPr>
              <a:t>analyze the</a:t>
            </a:r>
          </a:p>
          <a:p>
            <a:pPr algn="just"/>
            <a:r>
              <a:rPr lang="en-US" sz="2400" dirty="0">
                <a:latin typeface="Perpetua" panose="02020502060401020303" pitchFamily="18" charset="0"/>
              </a:rPr>
              <a:t>textual content of resumes and assign them to predefined categories or classes</a:t>
            </a:r>
            <a:r>
              <a:rPr lang="en-US" dirty="0">
                <a:latin typeface="Perpetua" panose="02020502060401020303" pitchFamily="18" charset="0"/>
              </a:rPr>
              <a:t>.</a:t>
            </a:r>
            <a:endParaRPr lang="en-IN" dirty="0"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48880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E3FE-BE97-484D-B3D9-A58CD5316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591" y="177553"/>
            <a:ext cx="9144000" cy="1251751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OBJECTIVE</a:t>
            </a:r>
            <a:endParaRPr lang="en-IN" b="1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F4322-6C04-47EB-949B-3E491D263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3181" y="2146098"/>
            <a:ext cx="9378062" cy="3709953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I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n this particular project we are given unstructured data </a:t>
            </a:r>
            <a:r>
              <a:rPr lang="en-IN" dirty="0" err="1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i.e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 resumes of different people with different skill sets, through </a:t>
            </a:r>
            <a:r>
              <a:rPr lang="en-IN" dirty="0">
                <a:latin typeface="Perpetua" panose="02020502060401020303" pitchFamily="18" charset="0"/>
              </a:rPr>
              <a:t>text mining techniques </a:t>
            </a:r>
            <a:r>
              <a:rPr lang="en-IN" dirty="0" err="1">
                <a:latin typeface="Perpetua" panose="02020502060401020303" pitchFamily="18" charset="0"/>
              </a:rPr>
              <a:t>coverting</a:t>
            </a:r>
            <a:r>
              <a:rPr lang="en-IN" dirty="0">
                <a:latin typeface="Perpetua" panose="02020502060401020303" pitchFamily="18" charset="0"/>
              </a:rPr>
              <a:t> them into structured format and using different classification and model building techniques</a:t>
            </a:r>
            <a:r>
              <a:rPr lang="en-IN" dirty="0">
                <a:solidFill>
                  <a:srgbClr val="00B0F0"/>
                </a:solidFill>
                <a:latin typeface="Perpetua" panose="02020502060401020303" pitchFamily="18" charset="0"/>
              </a:rPr>
              <a:t>, 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choosing the apt model, fitting it and evaluating the data, we will classify all the resumes and put each of them into there  </a:t>
            </a:r>
            <a:r>
              <a:rPr lang="en-IN" dirty="0">
                <a:latin typeface="Perpetua" panose="02020502060401020303" pitchFamily="18" charset="0"/>
              </a:rPr>
              <a:t>predefined categories here, such as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Perpetua" panose="02020502060401020303" pitchFamily="18" charset="0"/>
              </a:rPr>
              <a:t>React JS Developer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Perpetua" panose="02020502060401020303" pitchFamily="18" charset="0"/>
              </a:rPr>
              <a:t>Workday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Perpetua" panose="02020502060401020303" pitchFamily="18" charset="0"/>
              </a:rPr>
              <a:t>SQL Developer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Perpetua" panose="02020502060401020303" pitchFamily="18" charset="0"/>
              </a:rPr>
              <a:t>PeopleSoft</a:t>
            </a:r>
            <a:endParaRPr lang="en-IN" dirty="0"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43215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34B4-5150-41E1-BD4D-729B20F16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3899" y="185367"/>
            <a:ext cx="9144000" cy="141483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ABOUT DATASET</a:t>
            </a:r>
            <a:endParaRPr lang="en-IN" b="1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FEB22C9-89AC-4A73-B5EF-2C8526B96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9978" y="1830944"/>
            <a:ext cx="9144000" cy="47562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DATASET</a:t>
            </a:r>
          </a:p>
          <a:p>
            <a:pPr algn="just"/>
            <a:endParaRPr lang="en-US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  <a:p>
            <a:pPr algn="just"/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The sample dataset contains </a:t>
            </a:r>
            <a:r>
              <a:rPr lang="en-US" dirty="0">
                <a:latin typeface="Perpetua" panose="02020502060401020303" pitchFamily="18" charset="0"/>
              </a:rPr>
              <a:t>79 resumes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of various applicants belonging</a:t>
            </a:r>
          </a:p>
          <a:p>
            <a:pPr algn="just"/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to 4 different predefined categories.</a:t>
            </a:r>
          </a:p>
          <a:p>
            <a:pPr algn="just"/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PREDEFINED CATEGORIES OF DATASET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Perpetua" panose="02020502060401020303" pitchFamily="18" charset="0"/>
              </a:rPr>
              <a:t>React JS Developer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Perpetua" panose="02020502060401020303" pitchFamily="18" charset="0"/>
              </a:rPr>
              <a:t>Workday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Perpetua" panose="02020502060401020303" pitchFamily="18" charset="0"/>
              </a:rPr>
              <a:t>SQL Developer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Perpetua" panose="02020502060401020303" pitchFamily="18" charset="0"/>
              </a:rPr>
              <a:t>People Soft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80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17C796-1ED3-4FCD-9205-545177FDA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62" y="230819"/>
            <a:ext cx="11801475" cy="634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82615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B7D348-447A-4D0B-94D5-99C020FEE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86" y="183333"/>
            <a:ext cx="11773501" cy="649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7157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A5AB04-B8BF-41E0-9704-91DB89495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2" y="174617"/>
            <a:ext cx="11839575" cy="650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3880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D97B-0F44-4BCA-9461-67B94F7B9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777"/>
            <a:ext cx="9144000" cy="745723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VISUALIZATION OF DATA</a:t>
            </a:r>
            <a:endParaRPr lang="en-IN" sz="4400" b="1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DAACA-0378-4F15-894F-330FA023C7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87ABE0-0679-5401-3A90-88F4D1209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4500"/>
            <a:ext cx="3711388" cy="3320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7E7F5E-4DEB-8496-721E-7FE2F35EF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162" y="823913"/>
            <a:ext cx="4357949" cy="33204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445A44-5519-8673-C20E-CEB30A2B7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4380"/>
            <a:ext cx="4122665" cy="2502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96A91A-26EC-30AB-3A14-8A5031F0A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665" y="4144380"/>
            <a:ext cx="4357949" cy="25028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DA4426-287E-6D06-F2D8-F4704C32A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9335" y="823913"/>
            <a:ext cx="4122665" cy="339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3929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2EBDA-94F4-46B4-83A4-13672F682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475"/>
            <a:ext cx="9144000" cy="958787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BEST MODEL </a:t>
            </a:r>
            <a:endParaRPr lang="en-IN" sz="4800" b="1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6697F3-6B22-49E5-8BC7-5EED89F26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850" y="1942070"/>
            <a:ext cx="9678581" cy="319413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Once the data is cleaned and feature extraction is done. </a:t>
            </a:r>
          </a:p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The structured data is fitted into the best model evaluating the Train and Test accuracy. </a:t>
            </a:r>
          </a:p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The best model suitable for our data is:</a:t>
            </a:r>
          </a:p>
          <a:p>
            <a:pPr>
              <a:lnSpc>
                <a:spcPct val="100000"/>
              </a:lnSpc>
            </a:pPr>
            <a:endParaRPr lang="en-US" sz="700" dirty="0">
              <a:solidFill>
                <a:srgbClr val="00B0F0"/>
              </a:solidFill>
              <a:latin typeface="Perpetua" panose="020205020604010203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3200" b="1" u="sng" dirty="0">
                <a:solidFill>
                  <a:srgbClr val="00B0F0"/>
                </a:solidFill>
                <a:latin typeface="Perpetua" panose="02020502060401020303" pitchFamily="18" charset="0"/>
              </a:rPr>
              <a:t>Decision tree CLASSIFIER</a:t>
            </a:r>
            <a:endParaRPr lang="en-IN" sz="3200" b="1" u="sng" dirty="0">
              <a:solidFill>
                <a:srgbClr val="00B0F0"/>
              </a:solidFill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03120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16ED-F5AC-40A7-8467-A85BDAE59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2676" y="0"/>
            <a:ext cx="9144000" cy="1526959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DEPLOYMENT</a:t>
            </a:r>
            <a:endParaRPr lang="en-IN" sz="4800" b="1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37279-4190-44DF-8F59-099460622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2633" y="1914247"/>
            <a:ext cx="6880698" cy="3029505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Perpetua" panose="02020502060401020303" pitchFamily="18" charset="0"/>
              </a:rPr>
              <a:t>We have created a </a:t>
            </a:r>
            <a:r>
              <a:rPr lang="en-US" sz="2800" dirty="0" err="1">
                <a:latin typeface="Perpetua" panose="02020502060401020303" pitchFamily="18" charset="0"/>
              </a:rPr>
              <a:t>Streamlit</a:t>
            </a:r>
            <a:r>
              <a:rPr lang="en-US" sz="2800" dirty="0">
                <a:latin typeface="Perpetua" panose="02020502060401020303" pitchFamily="18" charset="0"/>
              </a:rPr>
              <a:t> Application based on this clustering technique, where we are taking applicants details </a:t>
            </a:r>
            <a:r>
              <a:rPr lang="en-US" sz="2800" dirty="0" err="1">
                <a:latin typeface="Perpetua" panose="02020502060401020303" pitchFamily="18" charset="0"/>
              </a:rPr>
              <a:t>i.e</a:t>
            </a:r>
            <a:r>
              <a:rPr lang="en-US" sz="2800" dirty="0">
                <a:latin typeface="Perpetua" panose="02020502060401020303" pitchFamily="18" charset="0"/>
              </a:rPr>
              <a:t> resume &amp; identifying which cluster the applicant belongs to.</a:t>
            </a:r>
            <a:endParaRPr lang="en-IN" sz="2800" dirty="0"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11898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F72D-C4F3-4E86-8FFB-296431012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346" y="545314"/>
            <a:ext cx="9144000" cy="635416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DEPLOYMENT PAGE</a:t>
            </a:r>
            <a:endParaRPr lang="en-IN" sz="4800" b="1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8708C-60AC-4F72-965B-998D221A0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5969" y="3602038"/>
            <a:ext cx="6775940" cy="16557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1B37F-2052-4EBA-91AB-B439C51B0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225" y="1473694"/>
            <a:ext cx="7405549" cy="522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3994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16ED-F5AC-40A7-8467-A85BDAE59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</a:rPr>
              <a:t>CHALLENGES FACED</a:t>
            </a:r>
            <a:endParaRPr lang="en-IN" sz="4800" b="1" dirty="0">
              <a:solidFill>
                <a:schemeClr val="tx1">
                  <a:lumMod val="85000"/>
                </a:schemeClr>
              </a:solidFill>
              <a:latin typeface="Perpetua" panose="02020502060401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37279-4190-44DF-8F59-0994606224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3000" b="1" dirty="0" err="1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  <a:ea typeface="+mj-ea"/>
                <a:cs typeface="+mj-cs"/>
              </a:rPr>
              <a:t>DataExtraction</a:t>
            </a:r>
            <a:r>
              <a:rPr lang="en-IN" sz="30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  <a:ea typeface="+mj-ea"/>
                <a:cs typeface="+mj-cs"/>
              </a:rPr>
              <a:t> Complexity: </a:t>
            </a:r>
          </a:p>
          <a:p>
            <a:pPr algn="just"/>
            <a:r>
              <a:rPr lang="en-US" dirty="0">
                <a:latin typeface="Perpetua" panose="02020502060401020303" pitchFamily="18" charset="0"/>
              </a:rPr>
              <a:t>Processing multiple file formats (docx, doc, pdf) requires handling different document structures and layouts for accurate data extraction.</a:t>
            </a:r>
            <a:endParaRPr lang="en-IN" dirty="0">
              <a:latin typeface="Perpetua" panose="02020502060401020303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82154-FAED-7674-EA42-4E00A39B6E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000" b="1" dirty="0">
                <a:solidFill>
                  <a:schemeClr val="tx1">
                    <a:lumMod val="85000"/>
                  </a:schemeClr>
                </a:solidFill>
                <a:latin typeface="Perpetua" panose="02020502060401020303" pitchFamily="18" charset="0"/>
                <a:ea typeface="+mj-ea"/>
                <a:cs typeface="+mj-cs"/>
              </a:rPr>
              <a:t>Limited Data Availability</a:t>
            </a:r>
          </a:p>
          <a:p>
            <a:pPr algn="just"/>
            <a:r>
              <a:rPr lang="en-US" dirty="0">
                <a:latin typeface="Perpetua" panose="02020502060401020303" pitchFamily="18" charset="0"/>
              </a:rPr>
              <a:t>Achieving 100% accuracy with a small dataset might not be indicative of real-world performance.</a:t>
            </a:r>
            <a:endParaRPr lang="en-IN" dirty="0">
              <a:latin typeface="Perpetua" panose="02020502060401020303" pitchFamily="18" charset="0"/>
            </a:endParaRPr>
          </a:p>
          <a:p>
            <a:pPr algn="just"/>
            <a:r>
              <a:rPr lang="en-US" dirty="0">
                <a:latin typeface="Perpetua" panose="02020502060401020303" pitchFamily="18" charset="0"/>
              </a:rPr>
              <a:t>A larger and more diverse dataset is needed for a more robust evaluation.</a:t>
            </a:r>
          </a:p>
        </p:txBody>
      </p:sp>
    </p:spTree>
    <p:extLst>
      <p:ext uri="{BB962C8B-B14F-4D97-AF65-F5344CB8AC3E}">
        <p14:creationId xmlns:p14="http://schemas.microsoft.com/office/powerpoint/2010/main" val="326060217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6AD9-735A-4074-AC43-1B97AC73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95AE40-BEEC-9616-63BE-BEB0DCBFA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387161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496</TotalTime>
  <Words>395</Words>
  <Application>Microsoft Office PowerPoint</Application>
  <PresentationFormat>Widescreen</PresentationFormat>
  <Paragraphs>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Perpetua</vt:lpstr>
      <vt:lpstr>Gallery</vt:lpstr>
      <vt:lpstr>               </vt:lpstr>
      <vt:lpstr>PowerPoint Presentation</vt:lpstr>
      <vt:lpstr>PowerPoint Presentation</vt:lpstr>
      <vt:lpstr>PowerPoint Presentation</vt:lpstr>
      <vt:lpstr>PowerPoint Presentation</vt:lpstr>
      <vt:lpstr>OBJECTIVE</vt:lpstr>
      <vt:lpstr>ABOUT DATASET</vt:lpstr>
      <vt:lpstr>PowerPoint Presentation</vt:lpstr>
      <vt:lpstr>PowerPoint Presentation</vt:lpstr>
      <vt:lpstr>PowerPoint Presentation</vt:lpstr>
      <vt:lpstr>VISUALIZATION OF DATA</vt:lpstr>
      <vt:lpstr>BEST MODEL </vt:lpstr>
      <vt:lpstr>DEPLOYMENT</vt:lpstr>
      <vt:lpstr>DEPLOYMENT PAGE</vt:lpstr>
      <vt:lpstr>CHALLENGES FACED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</dc:title>
  <dc:creator>DELL E5490</dc:creator>
  <cp:lastModifiedBy>Naveen Naganuri</cp:lastModifiedBy>
  <cp:revision>30</cp:revision>
  <dcterms:created xsi:type="dcterms:W3CDTF">2024-05-13T06:25:56Z</dcterms:created>
  <dcterms:modified xsi:type="dcterms:W3CDTF">2025-05-27T05:15:42Z</dcterms:modified>
</cp:coreProperties>
</file>